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rts/chart1.xml" ContentType="application/vnd.openxmlformats-officedocument.drawingml.chart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rts/chart2.xml" ContentType="application/vnd.openxmlformats-officedocument.drawingml.chart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81A4B4-D4B7-4954-A580-50FAB4313DC1}" v="2" dt="2026-08-04T10:51:55.6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4138" autoAdjust="0"/>
  </p:normalViewPr>
  <p:slideViewPr>
    <p:cSldViewPr snapToGrid="0" snapToObjects="1">
      <p:cViewPr varScale="1">
        <p:scale>
          <a:sx n="76" d="100"/>
          <a:sy n="76" d="100"/>
        </p:scale>
        <p:origin x="741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ssiano Moralles" userId="3c9fcc0d77892211" providerId="LiveId" clId="{50C0C99A-3A23-4A9A-A5AA-012DE8162165}"/>
    <pc:docChg chg="custSel modSld">
      <pc:chgData name="Cassiano Moralles" userId="3c9fcc0d77892211" providerId="LiveId" clId="{50C0C99A-3A23-4A9A-A5AA-012DE8162165}" dt="2026-08-04T10:47:17.710" v="259" actId="20577"/>
      <pc:docMkLst>
        <pc:docMk/>
      </pc:docMkLst>
      <pc:sldChg chg="modSp mod">
        <pc:chgData name="Cassiano Moralles" userId="3c9fcc0d77892211" providerId="LiveId" clId="{50C0C99A-3A23-4A9A-A5AA-012DE8162165}" dt="2026-08-04T10:39:35.717" v="47" actId="20577"/>
        <pc:sldMkLst>
          <pc:docMk/>
          <pc:sldMk cId="0" sldId="256"/>
        </pc:sldMkLst>
        <pc:spChg chg="mod">
          <ac:chgData name="Cassiano Moralles" userId="3c9fcc0d77892211" providerId="LiveId" clId="{50C0C99A-3A23-4A9A-A5AA-012DE8162165}" dt="2026-08-04T10:39:35.717" v="47" actId="20577"/>
          <ac:spMkLst>
            <pc:docMk/>
            <pc:sldMk cId="0" sldId="256"/>
            <ac:spMk id="7" creationId="{00000000-0000-0000-0000-000000000000}"/>
          </ac:spMkLst>
        </pc:spChg>
      </pc:sldChg>
      <pc:sldChg chg="delSp modSp mod">
        <pc:chgData name="Cassiano Moralles" userId="3c9fcc0d77892211" providerId="LiveId" clId="{50C0C99A-3A23-4A9A-A5AA-012DE8162165}" dt="2026-08-04T10:40:38.439" v="143" actId="478"/>
        <pc:sldMkLst>
          <pc:docMk/>
          <pc:sldMk cId="0" sldId="257"/>
        </pc:sldMkLst>
        <pc:spChg chg="mod">
          <ac:chgData name="Cassiano Moralles" userId="3c9fcc0d77892211" providerId="LiveId" clId="{50C0C99A-3A23-4A9A-A5AA-012DE8162165}" dt="2026-08-04T10:40:04.402" v="136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Cassiano Moralles" userId="3c9fcc0d77892211" providerId="LiveId" clId="{50C0C99A-3A23-4A9A-A5AA-012DE8162165}" dt="2026-08-04T10:40:01.185" v="120" actId="20577"/>
          <ac:spMkLst>
            <pc:docMk/>
            <pc:sldMk cId="0" sldId="257"/>
            <ac:spMk id="3" creationId="{00000000-0000-0000-0000-000000000000}"/>
          </ac:spMkLst>
        </pc:spChg>
        <pc:spChg chg="del">
          <ac:chgData name="Cassiano Moralles" userId="3c9fcc0d77892211" providerId="LiveId" clId="{50C0C99A-3A23-4A9A-A5AA-012DE8162165}" dt="2026-08-04T10:40:18.827" v="137" actId="478"/>
          <ac:spMkLst>
            <pc:docMk/>
            <pc:sldMk cId="0" sldId="257"/>
            <ac:spMk id="7" creationId="{00000000-0000-0000-0000-000000000000}"/>
          </ac:spMkLst>
        </pc:spChg>
        <pc:spChg chg="del">
          <ac:chgData name="Cassiano Moralles" userId="3c9fcc0d77892211" providerId="LiveId" clId="{50C0C99A-3A23-4A9A-A5AA-012DE8162165}" dt="2026-08-04T10:40:22.630" v="138" actId="478"/>
          <ac:spMkLst>
            <pc:docMk/>
            <pc:sldMk cId="0" sldId="257"/>
            <ac:spMk id="13" creationId="{00000000-0000-0000-0000-000000000000}"/>
          </ac:spMkLst>
        </pc:spChg>
        <pc:spChg chg="del">
          <ac:chgData name="Cassiano Moralles" userId="3c9fcc0d77892211" providerId="LiveId" clId="{50C0C99A-3A23-4A9A-A5AA-012DE8162165}" dt="2026-08-04T10:40:25.428" v="139" actId="478"/>
          <ac:spMkLst>
            <pc:docMk/>
            <pc:sldMk cId="0" sldId="257"/>
            <ac:spMk id="19" creationId="{00000000-0000-0000-0000-000000000000}"/>
          </ac:spMkLst>
        </pc:spChg>
        <pc:spChg chg="del">
          <ac:chgData name="Cassiano Moralles" userId="3c9fcc0d77892211" providerId="LiveId" clId="{50C0C99A-3A23-4A9A-A5AA-012DE8162165}" dt="2026-08-04T10:40:28.199" v="140" actId="478"/>
          <ac:spMkLst>
            <pc:docMk/>
            <pc:sldMk cId="0" sldId="257"/>
            <ac:spMk id="25" creationId="{00000000-0000-0000-0000-000000000000}"/>
          </ac:spMkLst>
        </pc:spChg>
        <pc:spChg chg="del">
          <ac:chgData name="Cassiano Moralles" userId="3c9fcc0d77892211" providerId="LiveId" clId="{50C0C99A-3A23-4A9A-A5AA-012DE8162165}" dt="2026-08-04T10:40:31.518" v="141" actId="478"/>
          <ac:spMkLst>
            <pc:docMk/>
            <pc:sldMk cId="0" sldId="257"/>
            <ac:spMk id="31" creationId="{00000000-0000-0000-0000-000000000000}"/>
          </ac:spMkLst>
        </pc:spChg>
        <pc:spChg chg="del">
          <ac:chgData name="Cassiano Moralles" userId="3c9fcc0d77892211" providerId="LiveId" clId="{50C0C99A-3A23-4A9A-A5AA-012DE8162165}" dt="2026-08-04T10:40:35.526" v="142" actId="478"/>
          <ac:spMkLst>
            <pc:docMk/>
            <pc:sldMk cId="0" sldId="257"/>
            <ac:spMk id="37" creationId="{00000000-0000-0000-0000-000000000000}"/>
          </ac:spMkLst>
        </pc:spChg>
        <pc:spChg chg="del">
          <ac:chgData name="Cassiano Moralles" userId="3c9fcc0d77892211" providerId="LiveId" clId="{50C0C99A-3A23-4A9A-A5AA-012DE8162165}" dt="2026-08-04T10:40:38.439" v="143" actId="478"/>
          <ac:spMkLst>
            <pc:docMk/>
            <pc:sldMk cId="0" sldId="257"/>
            <ac:spMk id="43" creationId="{00000000-0000-0000-0000-000000000000}"/>
          </ac:spMkLst>
        </pc:spChg>
      </pc:sldChg>
      <pc:sldChg chg="modSp mod">
        <pc:chgData name="Cassiano Moralles" userId="3c9fcc0d77892211" providerId="LiveId" clId="{50C0C99A-3A23-4A9A-A5AA-012DE8162165}" dt="2026-08-04T10:41:26.662" v="146" actId="20577"/>
        <pc:sldMkLst>
          <pc:docMk/>
          <pc:sldMk cId="0" sldId="259"/>
        </pc:sldMkLst>
        <pc:spChg chg="mod">
          <ac:chgData name="Cassiano Moralles" userId="3c9fcc0d77892211" providerId="LiveId" clId="{50C0C99A-3A23-4A9A-A5AA-012DE8162165}" dt="2026-08-04T10:41:26.662" v="146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Cassiano Moralles" userId="3c9fcc0d77892211" providerId="LiveId" clId="{50C0C99A-3A23-4A9A-A5AA-012DE8162165}" dt="2026-08-04T10:43:37.941" v="148" actId="1076"/>
        <pc:sldMkLst>
          <pc:docMk/>
          <pc:sldMk cId="0" sldId="267"/>
        </pc:sldMkLst>
        <pc:graphicFrameChg chg="mod modGraphic">
          <ac:chgData name="Cassiano Moralles" userId="3c9fcc0d77892211" providerId="LiveId" clId="{50C0C99A-3A23-4A9A-A5AA-012DE8162165}" dt="2026-08-04T10:43:37.941" v="148" actId="1076"/>
          <ac:graphicFrameMkLst>
            <pc:docMk/>
            <pc:sldMk cId="0" sldId="267"/>
            <ac:graphicFrameMk id="13" creationId="{00000000-0000-0000-0000-000000000000}"/>
          </ac:graphicFrameMkLst>
        </pc:graphicFrameChg>
      </pc:sldChg>
      <pc:sldChg chg="modSp mod">
        <pc:chgData name="Cassiano Moralles" userId="3c9fcc0d77892211" providerId="LiveId" clId="{50C0C99A-3A23-4A9A-A5AA-012DE8162165}" dt="2026-08-04T10:44:57.981" v="180" actId="20577"/>
        <pc:sldMkLst>
          <pc:docMk/>
          <pc:sldMk cId="0" sldId="276"/>
        </pc:sldMkLst>
        <pc:spChg chg="mod">
          <ac:chgData name="Cassiano Moralles" userId="3c9fcc0d77892211" providerId="LiveId" clId="{50C0C99A-3A23-4A9A-A5AA-012DE8162165}" dt="2026-08-04T10:44:57.981" v="180" actId="20577"/>
          <ac:spMkLst>
            <pc:docMk/>
            <pc:sldMk cId="0" sldId="276"/>
            <ac:spMk id="3" creationId="{00000000-0000-0000-0000-000000000000}"/>
          </ac:spMkLst>
        </pc:spChg>
        <pc:graphicFrameChg chg="modGraphic">
          <ac:chgData name="Cassiano Moralles" userId="3c9fcc0d77892211" providerId="LiveId" clId="{50C0C99A-3A23-4A9A-A5AA-012DE8162165}" dt="2026-08-04T10:44:47.618" v="149" actId="2166"/>
          <ac:graphicFrameMkLst>
            <pc:docMk/>
            <pc:sldMk cId="0" sldId="276"/>
            <ac:graphicFrameMk id="22" creationId="{00000000-0000-0000-0000-000000000000}"/>
          </ac:graphicFrameMkLst>
        </pc:graphicFrameChg>
      </pc:sldChg>
      <pc:sldChg chg="modSp mod">
        <pc:chgData name="Cassiano Moralles" userId="3c9fcc0d77892211" providerId="LiveId" clId="{50C0C99A-3A23-4A9A-A5AA-012DE8162165}" dt="2026-08-04T10:45:31.256" v="248" actId="20577"/>
        <pc:sldMkLst>
          <pc:docMk/>
          <pc:sldMk cId="0" sldId="277"/>
        </pc:sldMkLst>
        <pc:spChg chg="mod">
          <ac:chgData name="Cassiano Moralles" userId="3c9fcc0d77892211" providerId="LiveId" clId="{50C0C99A-3A23-4A9A-A5AA-012DE8162165}" dt="2026-08-04T10:45:31.256" v="248" actId="20577"/>
          <ac:spMkLst>
            <pc:docMk/>
            <pc:sldMk cId="0" sldId="277"/>
            <ac:spMk id="3" creationId="{00000000-0000-0000-0000-000000000000}"/>
          </ac:spMkLst>
        </pc:spChg>
      </pc:sldChg>
      <pc:sldChg chg="modSp mod">
        <pc:chgData name="Cassiano Moralles" userId="3c9fcc0d77892211" providerId="LiveId" clId="{50C0C99A-3A23-4A9A-A5AA-012DE8162165}" dt="2026-08-04T10:45:45.767" v="252" actId="20577"/>
        <pc:sldMkLst>
          <pc:docMk/>
          <pc:sldMk cId="0" sldId="279"/>
        </pc:sldMkLst>
        <pc:spChg chg="mod">
          <ac:chgData name="Cassiano Moralles" userId="3c9fcc0d77892211" providerId="LiveId" clId="{50C0C99A-3A23-4A9A-A5AA-012DE8162165}" dt="2026-08-04T10:45:42.682" v="250" actId="20577"/>
          <ac:spMkLst>
            <pc:docMk/>
            <pc:sldMk cId="0" sldId="279"/>
            <ac:spMk id="8" creationId="{00000000-0000-0000-0000-000000000000}"/>
          </ac:spMkLst>
        </pc:spChg>
        <pc:spChg chg="mod">
          <ac:chgData name="Cassiano Moralles" userId="3c9fcc0d77892211" providerId="LiveId" clId="{50C0C99A-3A23-4A9A-A5AA-012DE8162165}" dt="2026-08-04T10:45:45.767" v="252" actId="20577"/>
          <ac:spMkLst>
            <pc:docMk/>
            <pc:sldMk cId="0" sldId="279"/>
            <ac:spMk id="13" creationId="{00000000-0000-0000-0000-000000000000}"/>
          </ac:spMkLst>
        </pc:spChg>
      </pc:sldChg>
      <pc:sldChg chg="modSp mod">
        <pc:chgData name="Cassiano Moralles" userId="3c9fcc0d77892211" providerId="LiveId" clId="{50C0C99A-3A23-4A9A-A5AA-012DE8162165}" dt="2026-08-04T10:47:17.710" v="259" actId="20577"/>
        <pc:sldMkLst>
          <pc:docMk/>
          <pc:sldMk cId="0" sldId="283"/>
        </pc:sldMkLst>
        <pc:spChg chg="mod">
          <ac:chgData name="Cassiano Moralles" userId="3c9fcc0d77892211" providerId="LiveId" clId="{50C0C99A-3A23-4A9A-A5AA-012DE8162165}" dt="2026-08-04T10:47:17.710" v="259" actId="20577"/>
          <ac:spMkLst>
            <pc:docMk/>
            <pc:sldMk cId="0" sldId="283"/>
            <ac:spMk id="7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Tempo (ms)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B850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518-4E27-AEC3-14660E9E8E80}"/>
              </c:ext>
            </c:extLst>
          </c:dPt>
          <c:dPt>
            <c:idx val="1"/>
            <c:invertIfNegative val="0"/>
            <c:bubble3D val="0"/>
            <c:spPr>
              <a:solidFill>
                <a:srgbClr val="2C5F2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518-4E27-AEC3-14660E9E8E80}"/>
              </c:ext>
            </c:extLst>
          </c:dPt>
          <c:dPt>
            <c:idx val="2"/>
            <c:invertIfNegative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518-4E27-AEC3-14660E9E8E80}"/>
              </c:ext>
            </c:extLst>
          </c:dPt>
          <c:dPt>
            <c:idx val="3"/>
            <c:invertIfNegative val="0"/>
            <c:bubble3D val="0"/>
            <c:spPr>
              <a:solidFill>
                <a:srgbClr val="50808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518-4E27-AEC3-14660E9E8E8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2E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Imperativo</c:v>
                </c:pt>
                <c:pt idx="1">
                  <c:v>Funcional</c:v>
                </c:pt>
                <c:pt idx="2">
                  <c:v>Orient. a objetos</c:v>
                </c:pt>
                <c:pt idx="3">
                  <c:v>Declarativo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8.6999999999999993</c:v>
                </c:pt>
                <c:pt idx="1">
                  <c:v>8.5</c:v>
                </c:pt>
                <c:pt idx="2">
                  <c:v>14.9</c:v>
                </c:pt>
                <c:pt idx="3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518-4E27-AEC3-14660E9E8E8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1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F0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1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Amplitude multiparadigma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2E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Racket</c:v>
                </c:pt>
                <c:pt idx="1">
                  <c:v>Elixir</c:v>
                </c:pt>
                <c:pt idx="2">
                  <c:v>Haskell</c:v>
                </c:pt>
                <c:pt idx="3">
                  <c:v>Python</c:v>
                </c:pt>
                <c:pt idx="4">
                  <c:v>Java</c:v>
                </c:pt>
                <c:pt idx="5">
                  <c:v>Prolog</c:v>
                </c:pt>
                <c:pt idx="6">
                  <c:v>Go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</c:v>
                </c:pt>
                <c:pt idx="1">
                  <c:v>21</c:v>
                </c:pt>
                <c:pt idx="2">
                  <c:v>22</c:v>
                </c:pt>
                <c:pt idx="3">
                  <c:v>18</c:v>
                </c:pt>
                <c:pt idx="4">
                  <c:v>16</c:v>
                </c:pt>
                <c:pt idx="5">
                  <c:v>14</c:v>
                </c:pt>
                <c:pt idx="6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56-40AC-87EF-AB699CFAA27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1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DF0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1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5379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Em Python, ganha quem executa menos </a:t>
            </a:r>
            <a:r>
              <a:rPr lang="pt-BR" b="1" dirty="0" err="1"/>
              <a:t>bytecode</a:t>
            </a:r>
            <a:r>
              <a:rPr lang="pt-BR" b="1" dirty="0"/>
              <a:t>.</a:t>
            </a:r>
            <a:r>
              <a:rPr lang="pt-BR" dirty="0"/>
              <a:t> O declarativo vence porque o laço migra para C vetorizado; o OO perde porque paga 100 mil despachos de método. </a:t>
            </a:r>
            <a:r>
              <a:rPr lang="pt-BR"/>
              <a:t>Numa linguagem compilada, esse overhead não existe — e o ranking muda.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669280" cy="5669280"/>
          </a:xfrm>
          <a:prstGeom prst="ellipse">
            <a:avLst/>
          </a:prstGeom>
          <a:solidFill>
            <a:srgbClr val="222C58"/>
          </a:solidFill>
          <a:ln w="12700">
            <a:solidFill>
              <a:srgbClr val="222C5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966960" y="3108960"/>
            <a:ext cx="3108960" cy="3108960"/>
          </a:xfrm>
          <a:prstGeom prst="ellipse">
            <a:avLst/>
          </a:prstGeom>
          <a:solidFill>
            <a:srgbClr val="2C3768"/>
          </a:solidFill>
          <a:ln w="12700">
            <a:solidFill>
              <a:srgbClr val="2C376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01 · 3 HORAS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 paradigma de programação?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40690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Taxonomia de Van Roy · sintaxe, semântica e pragmática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120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E9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La Salle · Ciência da Computação e Sistemas de Informação · Prof. Cassiano Ricardo Neubauer Moralles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697480"/>
            <a:ext cx="1382050" cy="2651760"/>
          </a:xfrm>
          <a:prstGeom prst="roundRect">
            <a:avLst>
              <a:gd name="adj" fmla="val 5293"/>
            </a:avLst>
          </a:prstGeom>
          <a:solidFill>
            <a:srgbClr val="EDF1FA"/>
          </a:solidFill>
          <a:ln w="12700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093361" y="2331720"/>
            <a:ext cx="475488" cy="47548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93361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227832"/>
            <a:ext cx="11991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11991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e objetivos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23298" y="2697480"/>
            <a:ext cx="1382050" cy="2651760"/>
          </a:xfrm>
          <a:prstGeom prst="roundRect">
            <a:avLst>
              <a:gd name="adj" fmla="val 5293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2676579" y="2331720"/>
            <a:ext cx="475488" cy="475488"/>
          </a:xfrm>
          <a:prstGeom prst="ellipse">
            <a:avLst/>
          </a:prstGeom>
          <a:solidFill>
            <a:srgbClr val="50808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2676579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14738" y="3227832"/>
            <a:ext cx="11991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314738" y="3931920"/>
            <a:ext cx="11991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disciplina funciona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806517" y="2697480"/>
            <a:ext cx="1382050" cy="2651760"/>
          </a:xfrm>
          <a:prstGeom prst="roundRect">
            <a:avLst>
              <a:gd name="adj" fmla="val 5293"/>
            </a:avLst>
          </a:prstGeom>
          <a:solidFill>
            <a:srgbClr val="EDF1FA"/>
          </a:solidFill>
          <a:ln w="12700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259798" y="2331720"/>
            <a:ext cx="475488" cy="475488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259798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97957" y="3227832"/>
            <a:ext cx="11991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I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897957" y="3931920"/>
            <a:ext cx="11991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 paradigma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89735" y="2697480"/>
            <a:ext cx="1382050" cy="2651760"/>
          </a:xfrm>
          <a:prstGeom prst="roundRect">
            <a:avLst>
              <a:gd name="adj" fmla="val 5293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5843016" y="2331720"/>
            <a:ext cx="475488" cy="475488"/>
          </a:xfrm>
          <a:prstGeom prst="ellipse">
            <a:avLst/>
          </a:prstGeom>
          <a:solidFill>
            <a:srgbClr val="2C5F2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5843016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1175" y="3227832"/>
            <a:ext cx="11991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II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1175" y="3931920"/>
            <a:ext cx="11991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Taxonomia de Van Roy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972953" y="2697480"/>
            <a:ext cx="1382050" cy="2651760"/>
          </a:xfrm>
          <a:prstGeom prst="roundRect">
            <a:avLst>
              <a:gd name="adj" fmla="val 5293"/>
            </a:avLst>
          </a:prstGeom>
          <a:solidFill>
            <a:srgbClr val="EDF1FA"/>
          </a:solidFill>
          <a:ln w="12700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7426234" y="2331720"/>
            <a:ext cx="475488" cy="475488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7426234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64393" y="3227832"/>
            <a:ext cx="11991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064393" y="3931920"/>
            <a:ext cx="11991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notebooks ao vivo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556171" y="2697480"/>
            <a:ext cx="1382050" cy="2651760"/>
          </a:xfrm>
          <a:prstGeom prst="roundRect">
            <a:avLst>
              <a:gd name="adj" fmla="val 5293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9009453" y="2331720"/>
            <a:ext cx="475488" cy="475488"/>
          </a:xfrm>
          <a:prstGeom prst="ellipse">
            <a:avLst/>
          </a:prstGeom>
          <a:solidFill>
            <a:srgbClr val="6D2E4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9009453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647611" y="3227832"/>
            <a:ext cx="11991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647611" y="3931920"/>
            <a:ext cx="11991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de trabalho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0139390" y="2697480"/>
            <a:ext cx="1382050" cy="2651760"/>
          </a:xfrm>
          <a:prstGeom prst="roundRect">
            <a:avLst>
              <a:gd name="adj" fmla="val 5293"/>
            </a:avLst>
          </a:prstGeom>
          <a:solidFill>
            <a:srgbClr val="EDF1FA"/>
          </a:solidFill>
          <a:ln w="12700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10592671" y="2331720"/>
            <a:ext cx="475488" cy="475488"/>
          </a:xfrm>
          <a:prstGeom prst="ellipse">
            <a:avLst/>
          </a:prstGeom>
          <a:solidFill>
            <a:srgbClr val="C77D0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10592671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0230830" y="3227832"/>
            <a:ext cx="11991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10230830" y="3931920"/>
            <a:ext cx="11991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 e tarefa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8640" y="31089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548640" y="3108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aprendizagem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 deste encontro, você deve ser capaz de: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3383280" cy="301752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blurRad="101600" dist="25400" dir="5400000" algn="bl" rotWithShape="0">
              <a:srgbClr val="AAB0C8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96112" y="2496312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9611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17320" y="24597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paradigma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96112" y="3044952"/>
            <a:ext cx="28712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paradigma de linguagem, de estilo e de arquitetura, com exemplos próprios.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2240280"/>
            <a:ext cx="3383280" cy="301752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blurRad="101600" dist="25400" dir="5400000" algn="bl" rotWithShape="0">
              <a:srgbClr val="AAB0C8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645152" y="2496312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64515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66360" y="24597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Situar linguagens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45152" y="3044952"/>
            <a:ext cx="28712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Posicionar as sete linguagens do semestre nos eixos de estado e concorrência de Van Roy.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2240280"/>
            <a:ext cx="3383280" cy="301752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blurRad="101600" dist="25400" dir="5400000" algn="bl" rotWithShape="0">
              <a:srgbClr val="AAB0C8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8394192" y="2496312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39419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15400" y="24597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camadas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94192" y="3044952"/>
            <a:ext cx="28712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Classificar um erro de programa como sintático, semântico ou pragmático.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1089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48640" y="3108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disciplina funciona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965960"/>
            <a:ext cx="6400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</a:t>
            </a:r>
            <a:r>
              <a:rPr lang="en-US" sz="15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encontros de </a:t>
            </a:r>
            <a:r>
              <a:rPr lang="en-US" sz="15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trabalhos individuais de 1,0, dois seminários em grupo de 3,0 e duas provas de 4,0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linguagens são instrumentos de investigação dos conceitos, nunca conteúdo em si mesmas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498080" y="1965960"/>
            <a:ext cx="4114800" cy="329184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818120" y="2240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DA CASA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818120" y="274320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linguagem será cobrada por sintaxe. O que se avalia é o conceito que ela ilustra — e a sua capacidade de reconhecê-lo em qualquer outra.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48640" y="3108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interpretador como espinha dorsal do semestre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projeto que ganha um conceito novo a cada etapa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697480"/>
            <a:ext cx="2569464" cy="2651760"/>
          </a:xfrm>
          <a:prstGeom prst="roundRect">
            <a:avLst>
              <a:gd name="adj" fmla="val 2847"/>
            </a:avLst>
          </a:prstGeom>
          <a:solidFill>
            <a:srgbClr val="EDF1FA"/>
          </a:solidFill>
          <a:ln w="12700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687068" y="2331720"/>
            <a:ext cx="475488" cy="475488"/>
          </a:xfrm>
          <a:prstGeom prst="ellipse">
            <a:avLst/>
          </a:prstGeom>
          <a:solidFill>
            <a:srgbClr val="2C5F2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687068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3227832"/>
            <a:ext cx="2386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2386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Expressões, ambientes e funções de primeira classe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10712" y="2697480"/>
            <a:ext cx="2569464" cy="2651760"/>
          </a:xfrm>
          <a:prstGeom prst="roundRect">
            <a:avLst>
              <a:gd name="adj" fmla="val 2847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457700" y="2331720"/>
            <a:ext cx="475488" cy="475488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457700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02152" y="2926080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02152" y="3227832"/>
            <a:ext cx="2386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502152" y="3931920"/>
            <a:ext cx="2386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mutável, atribuição e laços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81344" y="2697480"/>
            <a:ext cx="2569464" cy="2651760"/>
          </a:xfrm>
          <a:prstGeom prst="roundRect">
            <a:avLst>
              <a:gd name="adj" fmla="val 2847"/>
            </a:avLst>
          </a:prstGeom>
          <a:solidFill>
            <a:srgbClr val="EDF1FA"/>
          </a:solidFill>
          <a:ln w="12700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7228332" y="2331720"/>
            <a:ext cx="475488" cy="475488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228332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72784" y="2926080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72784" y="3227832"/>
            <a:ext cx="2386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72784" y="3931920"/>
            <a:ext cx="2386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e despacho dinâmico com closures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951976" y="2697480"/>
            <a:ext cx="2569464" cy="2651760"/>
          </a:xfrm>
          <a:prstGeom prst="roundRect">
            <a:avLst>
              <a:gd name="adj" fmla="val 2847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9998964" y="2331720"/>
            <a:ext cx="475488" cy="47548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9998964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043416" y="2926080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17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043416" y="3227832"/>
            <a:ext cx="2386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043416" y="3931920"/>
            <a:ext cx="2386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 oral do projeto final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31089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548640" y="3108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1C2550"/>
          </a:solidFill>
          <a:ln w="12700">
            <a:solidFill>
              <a:srgbClr val="1C25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097280" y="14173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SONDAGEM INICIAL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" y="1965960"/>
            <a:ext cx="10058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paradigmas você já usou hoje — sem perceber?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7280" y="443484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Levante a mão: quem escreveu um laço for esta semana? Uma list comprehension? Uma consulta SQL? Uma função lambda? Você já transitou por quatro paradigmas antes do café.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26305C"/>
          </a:solidFill>
          <a:ln w="12700">
            <a:solidFill>
              <a:srgbClr val="263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48640" y="3108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280160"/>
            <a:ext cx="4206240" cy="4206240"/>
          </a:xfrm>
          <a:prstGeom prst="ellipse">
            <a:avLst/>
          </a:prstGeom>
          <a:solidFill>
            <a:srgbClr val="222C58"/>
          </a:solidFill>
          <a:ln w="12700">
            <a:solidFill>
              <a:srgbClr val="222C5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3A46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22960" y="301752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é, afinal, um paradigma?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2976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filosofia da ciência à sala de aula de computação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"/>
            <a:ext cx="3717036" cy="310896"/>
          </a:xfrm>
          <a:prstGeom prst="roundRect">
            <a:avLst>
              <a:gd name="adj" fmla="val 50000"/>
            </a:avLst>
          </a:prstGeom>
          <a:solidFill>
            <a:srgbClr val="26305C"/>
          </a:solidFill>
          <a:ln w="12700">
            <a:solidFill>
              <a:srgbClr val="263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48640" y="310896"/>
            <a:ext cx="37170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I · O QUE É UM PARADIGMA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1C2550"/>
          </a:solidFill>
          <a:ln w="12700">
            <a:solidFill>
              <a:srgbClr val="1C25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097280" y="14173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OPERACIONAL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" y="1965960"/>
            <a:ext cx="10058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paradigma é o conjunto de conceitos que estrutura como você escreve, lê e raciocina sobre programas.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7280" y="443484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Kuhn cunhou o termo para descrever o que uma comunidade científica considera problema legítimo e solução aceitável. Robert Floyd trouxe a ideia para a computação em 1978, na palestra do Prêmio Turing.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"/>
            <a:ext cx="3717036" cy="310896"/>
          </a:xfrm>
          <a:prstGeom prst="roundRect">
            <a:avLst>
              <a:gd name="adj" fmla="val 50000"/>
            </a:avLst>
          </a:prstGeom>
          <a:solidFill>
            <a:srgbClr val="26305C"/>
          </a:solidFill>
          <a:ln w="12700">
            <a:solidFill>
              <a:srgbClr val="263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48640" y="310896"/>
            <a:ext cx="37170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I · O QUE É UM PARADIGMA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coisas que costumam ser confundidas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os níveis é o primeiro passo da disciplina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blurRad="101600" dist="25400" dir="5400000" algn="bl" rotWithShape="0">
              <a:srgbClr val="AAB0C8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96112" y="2496312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9611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17320" y="245973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96112" y="3044952"/>
            <a:ext cx="4745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conceitos: estado, funções, objetos, relações. Exemplo: funcional.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224028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blurRad="101600" dist="25400" dir="5400000" algn="bl" rotWithShape="0">
              <a:srgbClr val="AAB0C8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519672" y="2496312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51967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40880" y="245973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19672" y="3044952"/>
            <a:ext cx="4745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Realização concreta, com sintaxe própria, que suporta um ou mais paradigmas. Exemplo: Haskell.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34340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blurRad="101600" dist="25400" dir="5400000" algn="bl" rotWithShape="0">
              <a:srgbClr val="AAB0C8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896112" y="4599432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96112" y="4599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17320" y="456285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96112" y="5148072"/>
            <a:ext cx="4745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Convenção de escrita dentro de uma linguagem. Exemplo: PEP 8, naming, pointfree.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434340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blurRad="101600" dist="25400" dir="5400000" algn="bl" rotWithShape="0">
              <a:srgbClr val="AAB0C8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6519672" y="4599432"/>
            <a:ext cx="384048" cy="38404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519672" y="4599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40880" y="456285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519672" y="5148072"/>
            <a:ext cx="4745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de um sistema em módulos e camadas. Exemplo: hexagonal, microsserviços.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10896"/>
            <a:ext cx="3717036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548640" y="310896"/>
            <a:ext cx="37170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I · O QUE É UM PARADIGMA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toda linguagem moderna é multiparadigma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965960"/>
            <a:ext cx="6400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nasceu imperativa, ganhou classes, depois lambdas, comprehensions, geradores e pattern matching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resistiu por vinte anos e cedeu: lambdas em 8, records e switch com padrões em 17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pressão vem dos problemas, não da moda — concorrência e dados exigiram imutabilidade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 prática: o paradigma é escolha do programa que você escreve, não do logotipo da linguagem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498080" y="1965960"/>
            <a:ext cx="4114800" cy="329184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818120" y="2240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IMPLICAÇÃO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818120" y="274320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Perguntar “de que paradigma é esta linguagem?” quase sempre é a pergunta errada. A pergunta útil é: que conceitos ela torna baratos?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"/>
            <a:ext cx="3717036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48640" y="310896"/>
            <a:ext cx="37170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I · O QUE É UM PARADIGMA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mesmo problema, quatro paradigmas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Somar os quadrados dos números pares de uma lista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blurRad="101600" dist="25400" dir="5400000" algn="bl" rotWithShape="0">
              <a:srgbClr val="AAB0C8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96112" y="2496312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9611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17320" y="245973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Imperativo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96112" y="3044952"/>
            <a:ext cx="4745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Acumulador, laço e 100 mil mutações. Descreve o percurso passo a passo.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224028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blurRad="101600" dist="25400" dir="5400000" algn="bl" rotWithShape="0">
              <a:srgbClr val="AAB0C8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519672" y="2496312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51967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40880" y="245973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19672" y="3044952"/>
            <a:ext cx="4745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map e reduce compostos. Nenhuma variável é sobrescrita.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34340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blurRad="101600" dist="25400" dir="5400000" algn="bl" rotWithShape="0">
              <a:srgbClr val="AAB0C8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896112" y="4599432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96112" y="4599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17320" y="456285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 a objetos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96112" y="5148072"/>
            <a:ext cx="4745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objeto guarda o total e responde a mensagens. O estado mudou de lugar, não desapareceu.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434340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blurRad="101600" dist="25400" dir="5400000" algn="bl" rotWithShape="0">
              <a:srgbClr val="AAB0C8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6519672" y="4599432"/>
            <a:ext cx="384048" cy="384048"/>
          </a:xfrm>
          <a:prstGeom prst="ellipse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519672" y="4599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40880" y="456285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Declarativo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519672" y="5148072"/>
            <a:ext cx="4745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expressão vetorizada. O laço existe, mas dentro da biblioteca.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10896"/>
            <a:ext cx="3717036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548640" y="310896"/>
            <a:ext cx="37170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I · O QUE É UM PARADIGMA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critérios para comparar paradigmas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Voltaremos a esta tabela em todos os encontros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698042"/>
              </p:ext>
            </p:extLst>
          </p:nvPr>
        </p:nvGraphicFramePr>
        <p:xfrm>
          <a:off x="1990485" y="2560320"/>
          <a:ext cx="7498080" cy="230428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Pergunta que ele faz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Expressividade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Quanto código é preciso para dizer a intenção?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Tratamento de estado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pode observar e alterar o quê, e quando?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de avaliação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 o cálculo acontece: ansioso ou preguiçoso?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Concorrência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acontece quando dois fluxos correm juntos?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Raciocínio local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Consigo entender este trecho sem ler o resto?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10896"/>
            <a:ext cx="3717036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548640" y="310896"/>
            <a:ext cx="37170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I · O QUE É UM PARADIGMA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custo cognitivo de trocar de paradigma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a sintaxe que custa — é desaprender o hábito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5257800" cy="3749040"/>
          </a:xfrm>
          <a:prstGeom prst="roundRect">
            <a:avLst>
              <a:gd name="adj" fmla="val 2439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932688" y="2514600"/>
            <a:ext cx="457200" cy="45720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554480" y="249631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atrapalha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15468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Procurar o laço onde não há laço</a:t>
            </a:r>
            <a:endParaRPr lang="en-US" sz="128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Insistir em uma variável acumuladora</a:t>
            </a:r>
            <a:endParaRPr lang="en-US" sz="128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Traduzir literalmente do estilo antigo</a:t>
            </a:r>
            <a:endParaRPr lang="en-US" sz="128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Chamar de “ineficiente” o que é apenas desconhecido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6263640" y="2240280"/>
            <a:ext cx="5257800" cy="3749040"/>
          </a:xfrm>
          <a:prstGeom prst="roundRect">
            <a:avLst>
              <a:gd name="adj" fmla="val 2439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6556248" y="251460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178040" y="249631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ajuda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315468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o mesmo problema duas vezes, em estilos diferentes</a:t>
            </a:r>
            <a:endParaRPr lang="en-US" sz="128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o tipo ou a assinatura antes do corpo</a:t>
            </a:r>
            <a:endParaRPr lang="en-US" sz="128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código idiomático de terceiros</a:t>
            </a:r>
            <a:endParaRPr lang="en-US" sz="128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Aceitar ficar lento por duas semanas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"/>
            <a:ext cx="3717036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48640" y="310896"/>
            <a:ext cx="37170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I · O QUE É UM PARADIGMA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1C2550"/>
          </a:solidFill>
          <a:ln w="12700">
            <a:solidFill>
              <a:srgbClr val="1C25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097280" y="14173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DISCUSSÃO EM DUPLAS · 4 MINUTOS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" y="1965960"/>
            <a:ext cx="10058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paradigma a sua linguagem favorita impõe — e qual ela apenas tolera?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7280" y="443484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Escolham um exemplo concreto de código que a linguagem torna fácil e um que ela torna desnecessariamente difícil. Vamos ouvir três duplas.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"/>
            <a:ext cx="3717036" cy="310896"/>
          </a:xfrm>
          <a:prstGeom prst="roundRect">
            <a:avLst>
              <a:gd name="adj" fmla="val 50000"/>
            </a:avLst>
          </a:prstGeom>
          <a:solidFill>
            <a:srgbClr val="26305C"/>
          </a:solidFill>
          <a:ln w="12700">
            <a:solidFill>
              <a:srgbClr val="263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48640" y="310896"/>
            <a:ext cx="37170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I · O QUE É UM PARADIGMA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280160"/>
            <a:ext cx="4206240" cy="4206240"/>
          </a:xfrm>
          <a:prstGeom prst="ellipse">
            <a:avLst/>
          </a:prstGeom>
          <a:solidFill>
            <a:srgbClr val="222C58"/>
          </a:solidFill>
          <a:ln w="12700">
            <a:solidFill>
              <a:srgbClr val="222C5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3A46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22960" y="301752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taxonomia de Van Roy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2976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Trinta paradigmas organizados por acréscimo de conceitos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"/>
            <a:ext cx="3822192" cy="310896"/>
          </a:xfrm>
          <a:prstGeom prst="roundRect">
            <a:avLst>
              <a:gd name="adj" fmla="val 50000"/>
            </a:avLst>
          </a:prstGeom>
          <a:solidFill>
            <a:srgbClr val="26305C"/>
          </a:solidFill>
          <a:ln w="12700">
            <a:solidFill>
              <a:srgbClr val="263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48640" y="310896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II · TAXONOMIA DE VAN ROY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eixos que nos interessam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pôster completo tem mais dimensões; usaremos dois eixos e um critério auxiliar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3383280" cy="301752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blurRad="101600" dist="25400" dir="5400000" algn="bl" rotWithShape="0">
              <a:srgbClr val="AAB0C8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96112" y="2496312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9611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17320" y="24597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observável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96112" y="3044952"/>
            <a:ext cx="28712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Nenhum, encapsulado, explícito local ou explícito compartilhado. Determina se o mesmo programa dá sempre a mesma resposta.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2240280"/>
            <a:ext cx="3383280" cy="301752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blurRad="101600" dist="25400" dir="5400000" algn="bl" rotWithShape="0">
              <a:srgbClr val="AAB0C8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645152" y="2496312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64515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66360" y="24597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Concorrência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45152" y="3044952"/>
            <a:ext cx="28712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Ausente, declarativa, por troca de mensagens ou por memória compartilhada. Determina o quanto o não determinismo é observável.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2240280"/>
            <a:ext cx="3383280" cy="301752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blurRad="101600" dist="25400" dir="5400000" algn="bl" rotWithShape="0">
              <a:srgbClr val="AAB0C8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8394192" y="2496312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39419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15400" y="24597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Nomeação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94192" y="3044952"/>
            <a:ext cx="28712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valores recebem nomes e por quanto tempo os mantêm — escopo, ambiente e tempo de vida.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10896"/>
            <a:ext cx="3822192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48640" y="310896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II · TAXONOMIA DE VAN ROY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núcleo declarativo às extensões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965960"/>
            <a:ext cx="6400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núcleo é o modelo declarativo: sem estado observável, sem concorrência, com transparência referencial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conceito acrescentado — estado, exceções, portas, threads — amplia o que se pode expressar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cada acréscimo remove uma garantia: reprodutibilidade, raciocínio local, paralelização trivial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de Van Roy: acrescente o conceito mais fraco que resolve o seu problema, e nenhum além dele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498080" y="1965960"/>
            <a:ext cx="4114800" cy="329184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818120" y="2240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PRÁTICA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818120" y="274320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conceitos = mais garantias. Mais conceitos = mais poder. Escolher paradigma é escolher deliberadamente esse ponto de troca.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"/>
            <a:ext cx="3822192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48640" y="310896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II · TAXONOMIA DE VAN ROY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ramos, uma mesma raiz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partem do núcleo declarativo e divergem no que acrescentam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5257800" cy="3749040"/>
          </a:xfrm>
          <a:prstGeom prst="roundRect">
            <a:avLst>
              <a:gd name="adj" fmla="val 2439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932688" y="251460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554480" y="249631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Ramo funcional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15468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básica: a função</a:t>
            </a:r>
            <a:endParaRPr lang="en-US" sz="128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 por redução de expressões</a:t>
            </a:r>
            <a:endParaRPr lang="en-US" sz="128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direção: entradas produzem saídas</a:t>
            </a:r>
            <a:endParaRPr lang="en-US" sz="128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Determinístico por construção</a:t>
            </a:r>
            <a:endParaRPr lang="en-US" sz="128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Haskell, Elixir, OCaml, Racket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6263640" y="2240280"/>
            <a:ext cx="5257800" cy="3749040"/>
          </a:xfrm>
          <a:prstGeom prst="roundRect">
            <a:avLst>
              <a:gd name="adj" fmla="val 2439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6556248" y="251460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178040" y="249631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Ramo lógico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315468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básica: a relação</a:t>
            </a:r>
            <a:endParaRPr lang="en-US" sz="128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 por unificação e busca</a:t>
            </a:r>
            <a:endParaRPr lang="en-US" sz="128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direções sobre a mesma relação</a:t>
            </a:r>
            <a:endParaRPr lang="en-US" sz="128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determinismo é o recurso central</a:t>
            </a:r>
            <a:endParaRPr lang="en-US" sz="128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Prolog, CLP(FD), Answer Set Programming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"/>
            <a:ext cx="3822192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48640" y="310896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II · TAXONOMIA DE VAN ROY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explícito: o que acrescenta e o que custa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conceito mais poderoso e mais caro da taxonomia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5257800" cy="3749040"/>
          </a:xfrm>
          <a:prstGeom prst="roundRect">
            <a:avLst>
              <a:gd name="adj" fmla="val 2439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932688" y="251460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554480" y="249631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ganha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15468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direta de entidades que mudam no tempo</a:t>
            </a:r>
            <a:endParaRPr lang="en-US" sz="128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eficientes in place</a:t>
            </a:r>
            <a:endParaRPr lang="en-US" sz="128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Aderência ao hardware real</a:t>
            </a:r>
            <a:endParaRPr lang="en-US" sz="128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curto para simulação e E/S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6263640" y="2240280"/>
            <a:ext cx="5257800" cy="3749040"/>
          </a:xfrm>
          <a:prstGeom prst="roundRect">
            <a:avLst>
              <a:gd name="adj" fmla="val 2439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6556248" y="2514600"/>
            <a:ext cx="457200" cy="45720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178040" y="249631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perde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315468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 referencial</a:t>
            </a:r>
            <a:endParaRPr lang="en-US" sz="128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que dependem só das entradas</a:t>
            </a:r>
            <a:endParaRPr lang="en-US" sz="128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Paralelização sem sincronização</a:t>
            </a:r>
            <a:endParaRPr lang="en-US" sz="128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Raciocínio local sobre um trecho isolado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"/>
            <a:ext cx="3822192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48640" y="310896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II · TAXONOMIA DE VAN ROY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formas de conviver com a concorrência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eixo vertical do mapa, estudado nas Aulas 14 e 15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3383280" cy="301752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blurRad="101600" dist="25400" dir="5400000" algn="bl" rotWithShape="0">
              <a:srgbClr val="AAB0C8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96112" y="2496312"/>
            <a:ext cx="384048" cy="384048"/>
          </a:xfrm>
          <a:prstGeom prst="ellipse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9611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17320" y="24597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96112" y="3044952"/>
            <a:ext cx="28712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de dados determina a ordem. Resultado determinístico. Exemplo: dataflow, NumPy.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2240280"/>
            <a:ext cx="3383280" cy="301752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blurRad="101600" dist="25400" dir="5400000" algn="bl" rotWithShape="0">
              <a:srgbClr val="AAB0C8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645152" y="2496312"/>
            <a:ext cx="384048" cy="384048"/>
          </a:xfrm>
          <a:prstGeom prst="ellipse">
            <a:avLst/>
          </a:prstGeom>
          <a:solidFill>
            <a:srgbClr val="C77D00"/>
          </a:solidFill>
          <a:ln w="12700">
            <a:solidFill>
              <a:srgbClr val="C77D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64515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66360" y="24597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mensagens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45152" y="3044952"/>
            <a:ext cx="28712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isolados trocam mensagens. Sem memória compartilhada. Exemplo: Elixir, Go.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2240280"/>
            <a:ext cx="3383280" cy="301752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blurRad="101600" dist="25400" dir="5400000" algn="bl" rotWithShape="0">
              <a:srgbClr val="AAB0C8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8394192" y="2496312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39419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15400" y="24597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Compartilhada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94192" y="3044952"/>
            <a:ext cx="28712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mutam a mesma memória sob locks. Máximo poder, máximo risco. Exemplo: Java, C++.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10896"/>
            <a:ext cx="3822192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48640" y="310896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II · TAXONOMIA DE VAN ROY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ficam as linguagens do semestre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Coordenadas aproximadas nos </a:t>
            </a:r>
            <a:r>
              <a:rPr lang="en-US" sz="1400" i="1" dirty="0" err="1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</a:t>
            </a: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eixos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850404"/>
              </p:ext>
            </p:extLst>
          </p:nvPr>
        </p:nvGraphicFramePr>
        <p:xfrm>
          <a:off x="640080" y="2240280"/>
          <a:ext cx="8869680" cy="3072384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Linguagem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observável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Concorrência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Haskell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 (puro)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declarativa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Prolog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encapsulado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declarativa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Elixir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encapsulado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mensagens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explícito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mensagens (CSP)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explícito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compartilhada limitada pelo GIL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explícito e compartilhado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memória compartilhada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10896"/>
            <a:ext cx="3822192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548640" y="310896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II · TAXONOMIA DE VAN ROY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taxonomia como mapa dos vinte encontros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965960"/>
            <a:ext cx="6400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r>
              <a:rPr lang="en-US" sz="15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declarativo: sintaxe, semântica, cálculo lambda e paradigma funcional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Acrescentamos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estado: interpretador, paradigma imperativo, tipos e abstração de dados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Mudamos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ramo: objetos e depois programação em lógica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Subimos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eixo vertical: concorrência, metaprogramação e paradigmas emergentes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498080" y="1965960"/>
            <a:ext cx="4114800" cy="329184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818120" y="2240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ESTUDAR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818120" y="274320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abrir cada aula, pergunte-se: que conceito estamos acrescentando ao núcleo, e que garantia estamos entregando em troca?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"/>
            <a:ext cx="3822192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48640" y="310896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II · TAXONOMIA DE VAN ROY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280160"/>
            <a:ext cx="4206240" cy="4206240"/>
          </a:xfrm>
          <a:prstGeom prst="ellipse">
            <a:avLst/>
          </a:prstGeom>
          <a:solidFill>
            <a:srgbClr val="222C58"/>
          </a:solidFill>
          <a:ln w="12700">
            <a:solidFill>
              <a:srgbClr val="222C5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3A46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22960" y="301752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Sintaxe, semântica e pragmática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2976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camadas — e os erros que vivem em cada uma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"/>
            <a:ext cx="2665476" cy="310896"/>
          </a:xfrm>
          <a:prstGeom prst="roundRect">
            <a:avLst>
              <a:gd name="adj" fmla="val 50000"/>
            </a:avLst>
          </a:prstGeom>
          <a:solidFill>
            <a:srgbClr val="26305C"/>
          </a:solidFill>
          <a:ln w="12700">
            <a:solidFill>
              <a:srgbClr val="263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48640" y="310896"/>
            <a:ext cx="26654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NO COLAB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três camadas de uma linguagem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distinção vem da linguística e organiza todo o resto do curso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3383280" cy="301752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blurRad="101600" dist="25400" dir="5400000" algn="bl" rotWithShape="0">
              <a:srgbClr val="AAB0C8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96112" y="2496312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9611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17320" y="24597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 · a forma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96112" y="3044952"/>
            <a:ext cx="28712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sequências de símbolos são programas bem formados. Descrita </a:t>
            </a:r>
            <a:r>
              <a:rPr lang="en-US" sz="1150" dirty="0" err="1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gramáticas</a:t>
            </a: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2240280"/>
            <a:ext cx="3383280" cy="301752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blurRad="101600" dist="25400" dir="5400000" algn="bl" rotWithShape="0">
              <a:srgbClr val="AAB0C8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645152" y="2496312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64515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66360" y="24597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Semântica · o significado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45152" y="3044952"/>
            <a:ext cx="28712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um programa bem formado faz. Operacional, denotacional </a:t>
            </a:r>
            <a:r>
              <a:rPr lang="en-US" sz="1150" dirty="0" err="1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axiomática</a:t>
            </a: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2240280"/>
            <a:ext cx="3383280" cy="301752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blurRad="101600" dist="25400" dir="5400000" algn="bl" rotWithShape="0">
              <a:srgbClr val="AAB0C8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8394192" y="2496312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39419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15400" y="24597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Pragmática · o uso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94192" y="3044952"/>
            <a:ext cx="28712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Idiomas, convenções, ferramentas e cultura da comunidade. Não está em nenhuma especificação.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10896"/>
            <a:ext cx="2665476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48640" y="310896"/>
            <a:ext cx="26654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NO COLAB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erro em cada camada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programa, três defeitos de naturezas diferentes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7132320" cy="2606040"/>
          </a:xfrm>
          <a:prstGeom prst="roundRect">
            <a:avLst>
              <a:gd name="adj" fmla="val 2807"/>
            </a:avLst>
          </a:prstGeom>
          <a:solidFill>
            <a:srgbClr val="141B3D"/>
          </a:solidFill>
          <a:ln w="12700">
            <a:solidFill>
              <a:srgbClr val="141B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68680" y="2423160"/>
            <a:ext cx="66751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erro de SINTAXE — o parser recusa</a:t>
            </a:r>
            <a:endParaRPr lang="en-US" sz="11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&gt; 0</a:t>
            </a:r>
            <a:endParaRPr lang="en-US" sz="11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print("positivo")</a:t>
            </a:r>
            <a:endParaRPr lang="en-US" sz="1150" dirty="0"/>
          </a:p>
          <a:p>
            <a:pPr marL="0" indent="0">
              <a:lnSpc>
                <a:spcPct val="95000"/>
              </a:lnSpc>
              <a:buNone/>
            </a:pPr>
            <a:endParaRPr lang="en-US" sz="11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erro de SEMÂNTICA — roda, mas significa outra coisa</a:t>
            </a:r>
            <a:endParaRPr lang="en-US" sz="11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media(xs):</a:t>
            </a:r>
            <a:endParaRPr lang="en-US" sz="11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sum(xs) / len(xs) + 1   # o +1 não deveria estar aqui</a:t>
            </a:r>
            <a:endParaRPr lang="en-US" sz="1150" dirty="0"/>
          </a:p>
          <a:p>
            <a:pPr marL="0" indent="0">
              <a:lnSpc>
                <a:spcPct val="95000"/>
              </a:lnSpc>
              <a:buNone/>
            </a:pPr>
            <a:endParaRPr lang="en-US" sz="11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problema de PRAGMÁTICA — correto, porém inaceitável</a:t>
            </a:r>
            <a:endParaRPr lang="en-US" sz="11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[x for x in range(10**8)]      # nome opaco, memória desperdiçada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138160" y="2240280"/>
            <a:ext cx="3383280" cy="2606040"/>
          </a:xfrm>
          <a:prstGeom prst="roundRect">
            <a:avLst>
              <a:gd name="adj" fmla="val 2807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412480" y="2468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OBSERVAR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0" y="288036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compilador só protege você da primeira camada.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segunda exige testes e raciocínio.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terceira exige revisão por outro ser humano.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"/>
            <a:ext cx="2665476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48640" y="310896"/>
            <a:ext cx="26654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NO COLAB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cada camada é verificada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por que a maior parte dos bugs escapa das ferramentas</a:t>
            </a:r>
            <a:endParaRPr lang="en-US" sz="14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40280"/>
          <a:ext cx="10881360" cy="19202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Camada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verifica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do erro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Sintaxe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Parser da linguagem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 de executar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Baixo — impossível ignorar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Verificador de tipos, mypy, tsc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 de executar (se houver)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Baixo a 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Semântica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Testes, provas, revisão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Durante e depois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— o programa roda errado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Pragmática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Revisão humana, linters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 revisão de código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no longo prazo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10896"/>
            <a:ext cx="2665476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548640" y="310896"/>
            <a:ext cx="26654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NO COLAB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1 · o mesmo problema em quatro estilos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aula01_codigo1_quatro_estilos.ipynb — execute com Ctrl+F9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7132320" cy="3035808"/>
          </a:xfrm>
          <a:prstGeom prst="roundRect">
            <a:avLst>
              <a:gd name="adj" fmla="val 2410"/>
            </a:avLst>
          </a:prstGeom>
          <a:solidFill>
            <a:srgbClr val="141B3D"/>
          </a:solidFill>
          <a:ln w="12700">
            <a:solidFill>
              <a:srgbClr val="141B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68680" y="2423160"/>
            <a:ext cx="667512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soma_imperativa(nums):</a:t>
            </a:r>
            <a:endParaRPr lang="en-US" sz="11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0</a:t>
            </a:r>
            <a:endParaRPr lang="en-US" sz="11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x in nums:</a:t>
            </a:r>
            <a:endParaRPr lang="en-US" sz="11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x % 2 == 0:</a:t>
            </a:r>
            <a:endParaRPr lang="en-US" sz="11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total = total + x * x    # 100.000 mutações</a:t>
            </a:r>
            <a:endParaRPr lang="en-US" sz="11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total</a:t>
            </a:r>
            <a:endParaRPr lang="en-US" sz="1150" dirty="0"/>
          </a:p>
          <a:p>
            <a:pPr marL="0" indent="0">
              <a:lnSpc>
                <a:spcPct val="95000"/>
              </a:lnSpc>
              <a:buNone/>
            </a:pPr>
            <a:endParaRPr lang="en-US" sz="11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soma_funcional_py(nums):</a:t>
            </a:r>
            <a:endParaRPr lang="en-US" sz="11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sum(x * x for x in nums if x % 2 == 0)</a:t>
            </a:r>
            <a:endParaRPr lang="en-US" sz="1150" dirty="0"/>
          </a:p>
          <a:p>
            <a:pPr marL="0" indent="0">
              <a:lnSpc>
                <a:spcPct val="95000"/>
              </a:lnSpc>
              <a:buNone/>
            </a:pPr>
            <a:endParaRPr lang="en-US" sz="11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soma_vetorizada(arr):</a:t>
            </a:r>
            <a:endParaRPr lang="en-US" sz="11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int((arr[arr % 2 == 0] ** 2).sum())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138160" y="2240280"/>
            <a:ext cx="3383280" cy="3035808"/>
          </a:xfrm>
          <a:prstGeom prst="roundRect">
            <a:avLst>
              <a:gd name="adj" fmla="val 2410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412480" y="2468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OBSERVAR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0" y="2880360"/>
            <a:ext cx="283464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devolvem o mesmo número.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Medimos tempo, linhas efetivas e mutações de estado.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terceira métrica é a conceitualmente decisiva.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"/>
            <a:ext cx="2665476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48640" y="310896"/>
            <a:ext cx="26654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NO COLAB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cada estilo torna barato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típicos do notebook 1 — os tempos variam com a máquina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2240280"/>
          <a:ext cx="7315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2240280"/>
            <a:ext cx="3337560" cy="3657600"/>
          </a:xfrm>
          <a:prstGeom prst="roundRect">
            <a:avLst>
              <a:gd name="adj" fmla="val 246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8458200" y="249631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DO GRÁFICO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458200" y="2926080"/>
            <a:ext cx="2788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declarativo vence porque delega o laço a código vetorizado.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OO paga o custo da chamada de método 100 mil vezes.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Cuidado: rápido em Python não é rápido em </a:t>
            </a: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Why???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10896"/>
            <a:ext cx="2665476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548640" y="310896"/>
            <a:ext cx="26654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NO COLAB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2 · o mapa de Van Roy plotado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aula01_codigo2_mapa_vanroy.ipynb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7132320" cy="1961388"/>
          </a:xfrm>
          <a:prstGeom prst="roundRect">
            <a:avLst>
              <a:gd name="adj" fmla="val 3730"/>
            </a:avLst>
          </a:prstGeom>
          <a:solidFill>
            <a:srgbClr val="141B3D"/>
          </a:solidFill>
          <a:ln w="12700">
            <a:solidFill>
              <a:srgbClr val="141B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68680" y="2423160"/>
            <a:ext cx="6675120" cy="1595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paradigmas = pd.DataFrame([</a:t>
            </a:r>
            <a:endParaRPr lang="en-US" sz="11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("Funcional puro",             0, 0, "Funcional"),</a:t>
            </a:r>
            <a:endParaRPr lang="en-US" sz="11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("Orientado a objetos",        2, 0, "OO"),</a:t>
            </a:r>
            <a:endParaRPr lang="en-US" sz="11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("Imperativo procedural",      3, 0, "Imperativo"),</a:t>
            </a:r>
            <a:endParaRPr lang="en-US" sz="11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("Atores / troca de mensagens",1, 2, "Concorrente"),</a:t>
            </a:r>
            <a:endParaRPr lang="en-US" sz="11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("Threads compartilhadas",     3, 3, "Concorrente"),</a:t>
            </a:r>
            <a:endParaRPr lang="en-US" sz="11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columns=["paradigma","estado","concorrencia","familia"])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138160" y="2240280"/>
            <a:ext cx="3383280" cy="1961388"/>
          </a:xfrm>
          <a:prstGeom prst="roundRect">
            <a:avLst>
              <a:gd name="adj" fmla="val 3730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412480" y="2468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OBSERVAR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0" y="2880360"/>
            <a:ext cx="2834640" cy="109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linha vira um ponto no plano.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Elixir e Go aparecem duas vezes: linguagens multiparadigma ocupam regiões, não pontos.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"/>
            <a:ext cx="2665476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48640" y="310896"/>
            <a:ext cx="26654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NO COLAB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3 · nenhuma linguagem é de um paradigma só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do suporte a doze recursos avaliados de 0 a 3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2240280"/>
          <a:ext cx="7315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2240280"/>
            <a:ext cx="3337560" cy="3657600"/>
          </a:xfrm>
          <a:prstGeom prst="roundRect">
            <a:avLst>
              <a:gd name="adj" fmla="val 246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8458200" y="249631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DO GRÁFICO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458200" y="2926080"/>
            <a:ext cx="2788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coluna vazia: até Go tem funções de primeira classe e closures.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 fica no fim e nem por isso é pobre — é profunda em um eixo que ninguém mais alcança.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10896"/>
            <a:ext cx="2665476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548640" y="310896"/>
            <a:ext cx="26654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NO COLAB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280160"/>
            <a:ext cx="4206240" cy="4206240"/>
          </a:xfrm>
          <a:prstGeom prst="ellipse">
            <a:avLst/>
          </a:prstGeom>
          <a:solidFill>
            <a:srgbClr val="222C58"/>
          </a:solidFill>
          <a:ln w="12700">
            <a:solidFill>
              <a:srgbClr val="222C5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3A46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22960" y="301752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Laboratório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2976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do ambiente de trabalho do semestre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"/>
            <a:ext cx="1613916" cy="310896"/>
          </a:xfrm>
          <a:prstGeom prst="roundRect">
            <a:avLst>
              <a:gd name="adj" fmla="val 50000"/>
            </a:avLst>
          </a:prstGeom>
          <a:solidFill>
            <a:srgbClr val="26305C"/>
          </a:solidFill>
          <a:ln w="12700">
            <a:solidFill>
              <a:srgbClr val="263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48640" y="310896"/>
            <a:ext cx="16139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de instalação em seis passos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Trabalhe em duplas; chame o professor a qualquer travamento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697480"/>
            <a:ext cx="1645920" cy="2651760"/>
          </a:xfrm>
          <a:prstGeom prst="roundRect">
            <a:avLst>
              <a:gd name="adj" fmla="val 4444"/>
            </a:avLst>
          </a:prstGeom>
          <a:solidFill>
            <a:srgbClr val="EDF1FA"/>
          </a:solidFill>
          <a:ln w="12700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225296" y="2331720"/>
            <a:ext cx="475488" cy="47548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225296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322783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3.11+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--version e pip funcionando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87168" y="2697480"/>
            <a:ext cx="1645920" cy="2651760"/>
          </a:xfrm>
          <a:prstGeom prst="roundRect">
            <a:avLst>
              <a:gd name="adj" fmla="val 4444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072384" y="2331720"/>
            <a:ext cx="475488" cy="475488"/>
          </a:xfrm>
          <a:prstGeom prst="ellipse">
            <a:avLst/>
          </a:prstGeom>
          <a:solidFill>
            <a:srgbClr val="2C5F2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072384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78608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578608" y="322783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Racket 8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578608" y="39319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DrRacket abre e roda (+ 1 2)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34256" y="2697480"/>
            <a:ext cx="1645920" cy="2651760"/>
          </a:xfrm>
          <a:prstGeom prst="roundRect">
            <a:avLst>
              <a:gd name="adj" fmla="val 4444"/>
            </a:avLst>
          </a:prstGeom>
          <a:solidFill>
            <a:srgbClr val="EDF1FA"/>
          </a:solidFill>
          <a:ln w="12700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919472" y="2331720"/>
            <a:ext cx="475488" cy="475488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919472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25696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25696" y="322783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Haskell ou Elixir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425696" y="39319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GHCup ou asdf, à sua escolha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81344" y="2697480"/>
            <a:ext cx="1645920" cy="2651760"/>
          </a:xfrm>
          <a:prstGeom prst="roundRect">
            <a:avLst>
              <a:gd name="adj" fmla="val 4444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6766560" y="2331720"/>
            <a:ext cx="475488" cy="475488"/>
          </a:xfrm>
          <a:prstGeom prst="ellipse">
            <a:avLst/>
          </a:prstGeom>
          <a:solidFill>
            <a:srgbClr val="6D2E4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766560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72784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72784" y="322783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SWI-Prolog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272784" y="39319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swipl no terminal responde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28432" y="2697480"/>
            <a:ext cx="1645920" cy="2651760"/>
          </a:xfrm>
          <a:prstGeom prst="roundRect">
            <a:avLst>
              <a:gd name="adj" fmla="val 4444"/>
            </a:avLst>
          </a:prstGeom>
          <a:solidFill>
            <a:srgbClr val="EDF1FA"/>
          </a:solidFill>
          <a:ln w="12700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8613648" y="2331720"/>
            <a:ext cx="475488" cy="475488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8613648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119872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119872" y="322783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119872" y="39319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da disciplina clonado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875520" y="2697480"/>
            <a:ext cx="1645920" cy="2651760"/>
          </a:xfrm>
          <a:prstGeom prst="roundRect">
            <a:avLst>
              <a:gd name="adj" fmla="val 4444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10460736" y="2331720"/>
            <a:ext cx="475488" cy="475488"/>
          </a:xfrm>
          <a:prstGeom prst="ellipse">
            <a:avLst/>
          </a:prstGeom>
          <a:solidFill>
            <a:srgbClr val="50808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10460736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966960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6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966960" y="322783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9966960" y="39319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notebooks executam sem erro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310896"/>
            <a:ext cx="1613916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548640" y="310896"/>
            <a:ext cx="16139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algo não instalar hoje, nada está perdido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linguagens do semestre têm alternativa na nuvem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3383280" cy="301752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blurRad="101600" dist="25400" dir="5400000" algn="bl" rotWithShape="0">
              <a:srgbClr val="AAB0C8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96112" y="2496312"/>
            <a:ext cx="384048" cy="384048"/>
          </a:xfrm>
          <a:prstGeom prst="ellipse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9611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17320" y="24597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96112" y="3044952"/>
            <a:ext cx="28712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NumPy e matplotlib prontos. É onde rodam os três notebooks de hoje e os 42 do semestre.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2240280"/>
            <a:ext cx="3383280" cy="301752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blurRad="101600" dist="25400" dir="5400000" algn="bl" rotWithShape="0">
              <a:srgbClr val="AAB0C8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645152" y="2496312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64515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66360" y="24597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Racket e Haskell online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45152" y="3044952"/>
            <a:ext cx="28712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DrRacket web e Haskell Playground resolvem os exercícios de aula, mas não os trabalhos maiores.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2240280"/>
            <a:ext cx="3383280" cy="301752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blurRad="101600" dist="25400" dir="5400000" algn="bl" rotWithShape="0">
              <a:srgbClr val="AAB0C8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8394192" y="2496312"/>
            <a:ext cx="384048" cy="38404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39419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15400" y="24597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SWI-Prolog online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94192" y="3044952"/>
            <a:ext cx="28712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swish.swi-prolog.org executa consultas e permite salvar programas — suficiente para as Aulas 12 e 13.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10896"/>
            <a:ext cx="1613916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48640" y="310896"/>
            <a:ext cx="16139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Convenções de entrega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Válidas para os seis trabalhos de laboratório do semestre</a:t>
            </a:r>
            <a:endParaRPr lang="en-US" sz="14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4028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quê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 do arquivo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sobrenome_t1_paradigmas.ipynb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Correção em lote sem ambiguidade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Notebook executado, com as saídas visíveis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notebook sem saída não comprova execução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Comentado nos pontos de decisão, não linha a linha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Comentário explica o porquê, não o quê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Prazo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as 23h59 do dia da aula indicada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Devolutiva antes do encontro seguinte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de 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Permitido, desde que declarado no cabeçalho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responsabilidade pelo código é sempre sua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10896"/>
            <a:ext cx="1613916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548640" y="310896"/>
            <a:ext cx="16139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1C2550"/>
          </a:solidFill>
          <a:ln w="12700">
            <a:solidFill>
              <a:srgbClr val="1C25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097280" y="14173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" y="1965960"/>
            <a:ext cx="10058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paradigma é um conjunto de conceitos — e cada conceito acrescentado troca garantia por poder.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7280" y="443484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não escolhe um paradigma por gosto: escolhe pelo que o problema exige e pelo que você está disposto a perder em raciocínio local, reprodutibilidade e testabilidade.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26305C"/>
          </a:solidFill>
          <a:ln w="12700">
            <a:solidFill>
              <a:srgbClr val="263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48640" y="3108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seis paradigmas do semestre em uma página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 esta tabela: ela será preenchida com detalhes a cada encontro</a:t>
            </a:r>
            <a:endParaRPr lang="en-US" sz="14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40280"/>
          <a:ext cx="10881360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Paradigma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Unidade básica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Pergunta central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Aulas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função pura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valor isto denota?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 4 e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Imperativo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comando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explícito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passos executar?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e 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Orientado a objetos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objeto e mensagem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encapsulado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responde a esta mensagem?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Lógico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fatos satisfazem esta consulta?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e 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Concorrente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 ou canal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isolado ou compartilhado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observa o quê, e quando?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e 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transformação de programa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variável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posso reescrever o próprio programa?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1089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548640" y="3108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equívocos que vamos desmontar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você concordou com algum deles hoje, ótimo: é exatamente o alvo do semestre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3383280" cy="301752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blurRad="101600" dist="25400" dir="5400000" algn="bl" rotWithShape="0">
              <a:srgbClr val="AAB0C8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96112" y="2496312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9611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17320" y="24597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“Funcional é só usar map e filter”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96112" y="3044952"/>
            <a:ext cx="28712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 é ausência de estado observável. map sobre uma lista mutável não é funcional coisa nenhuma.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2240280"/>
            <a:ext cx="3383280" cy="301752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blurRad="101600" dist="25400" dir="5400000" algn="bl" rotWithShape="0">
              <a:srgbClr val="AAB0C8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645152" y="2496312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64515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66360" y="24597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“OO é herança e classes”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45152" y="3044952"/>
            <a:ext cx="28712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 falou em troca de mensagens. Herança é um mecanismo de reuso — frequentemente o pior deles.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2240280"/>
            <a:ext cx="3383280" cy="301752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blurRad="101600" dist="25400" dir="5400000" algn="bl" rotWithShape="0">
              <a:srgbClr val="AAB0C8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8394192" y="2496312"/>
            <a:ext cx="384048" cy="38404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39419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15400" y="24597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“Declarativo é mais lento”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94192" y="3044952"/>
            <a:ext cx="28712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Declarativo diz o quê, não quão rápido. SQL e NumPy são declarativos e batem quase qualquer laço manual.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1089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48640" y="3108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1C2550"/>
          </a:solidFill>
          <a:ln w="12700">
            <a:solidFill>
              <a:srgbClr val="1C25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097280" y="14173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PONTE PARA A AULA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" y="1965960"/>
            <a:ext cx="10058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um paradigma é um conjunto de conceitos, como descrevemos uma linguagem com precisão?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7280" y="443484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próxima aula: gramáticas livres de contexto, BNF e EBNF, árvores sintáticas abstratas e as três formas de dar significado a um programa — operacional, denotacional e axiomática.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26305C"/>
          </a:solidFill>
          <a:ln w="12700">
            <a:solidFill>
              <a:srgbClr val="2630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48640" y="3108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Trabalho 1 · 1,0 ponto · entrega na Aula 3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Individual, em notebook, com as saídas visíveis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3383280" cy="301752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blurRad="101600" dist="25400" dir="5400000" algn="bl" rotWithShape="0">
              <a:srgbClr val="AAB0C8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96112" y="2496312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9611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17320" y="24597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A — 0,4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96112" y="3044952"/>
            <a:ext cx="28712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três linguagens que você já usou. Posicione-as nos dois eixos de Van Roy e justifique cada coordenada em um parágrafo.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2240280"/>
            <a:ext cx="3383280" cy="301752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blurRad="101600" dist="25400" dir="5400000" algn="bl" rotWithShape="0">
              <a:srgbClr val="AAB0C8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645152" y="2496312"/>
            <a:ext cx="384048" cy="384048"/>
          </a:xfrm>
          <a:prstGeom prst="ellipse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64515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66360" y="24597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B — 0,4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45152" y="3044952"/>
            <a:ext cx="28712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Resolva um problema à sua escolha em dois paradigmas distintos, no notebook 1, e compare tempo, linhas e mutações.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2240280"/>
            <a:ext cx="3383280" cy="301752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blurRad="101600" dist="25400" dir="5400000" algn="bl" rotWithShape="0">
              <a:srgbClr val="AAB0C8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8394192" y="2496312"/>
            <a:ext cx="384048" cy="38404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39419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15400" y="24597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C — 0,2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94192" y="3044952"/>
            <a:ext cx="28712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Responda em até 15 linhas: por que perguntar de que paradigma uma linguagem é costuma ser a pergunta errada?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1089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48640" y="3108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Leitura prévia e referências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965960"/>
            <a:ext cx="6400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obrigatória para a Aula 2: SEBESTA, capítulo 3 — Descrevendo sintaxe e semântica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ROY; HARIDI. Concepts, techniques, and models of computer programming. MIT Press, 2004 — introdução e pôster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ROY, P. Programming paradigms for dummies: what every programmer should know, 2009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FLOYD, R. The paradigms of programming. Palestra do Prêmio Turing, Communications of the ACM, 1979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TUCKER; NOONAN. Linguagens de programação: princípios e paradigmas, capítulo 1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498080" y="1965960"/>
            <a:ext cx="4114800" cy="329184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818120" y="2240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ENCONTRO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818120" y="274320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Traga o quiz da leitura respondido. Os três notebooks de hoje devem estar executando sem erro na sua conta do Colab.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48640" y="3108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3446</Words>
  <Application>Microsoft Office PowerPoint</Application>
  <PresentationFormat>Widescreen</PresentationFormat>
  <Paragraphs>617</Paragraphs>
  <Slides>40</Slides>
  <Notes>40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5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 — O que é um paradigma de programação</dc:title>
  <dc:subject>PptxGenJS Presentation</dc:subject>
  <dc:creator>Paradigmas de Programação</dc:creator>
  <cp:lastModifiedBy>Cassiano Ricardo Neubauer Moralles</cp:lastModifiedBy>
  <cp:revision>1</cp:revision>
  <dcterms:created xsi:type="dcterms:W3CDTF">2026-07-31T04:28:23Z</dcterms:created>
  <dcterms:modified xsi:type="dcterms:W3CDTF">2026-08-04T10:52:04Z</dcterms:modified>
</cp:coreProperties>
</file>